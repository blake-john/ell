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A27B7-0F64-41B9-A50C-963FFF6A8693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7FEBB6-8886-4678-8804-C99C33ABD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607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Rectangle 3"/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1" lang="zh-CN" altLang="en-US" smtClean="0">
                <a:solidFill>
                  <a:srgbClr val="000000"/>
                </a:solidFill>
              </a:rPr>
              <a:t>红色的</a:t>
            </a:r>
            <a:r>
              <a:rPr kumimoji="1" lang="en-US" altLang="zh-CN" smtClean="0">
                <a:solidFill>
                  <a:srgbClr val="000000"/>
                </a:solidFill>
              </a:rPr>
              <a:t>2.19</a:t>
            </a:r>
            <a:r>
              <a:rPr kumimoji="1" lang="zh-CN" altLang="en-US" smtClean="0">
                <a:solidFill>
                  <a:srgbClr val="000000"/>
                </a:solidFill>
              </a:rPr>
              <a:t>、</a:t>
            </a:r>
            <a:r>
              <a:rPr kumimoji="1" lang="en-US" altLang="zh-CN" smtClean="0">
                <a:solidFill>
                  <a:srgbClr val="000000"/>
                </a:solidFill>
              </a:rPr>
              <a:t>2.27</a:t>
            </a:r>
            <a:r>
              <a:rPr kumimoji="1" lang="zh-CN" altLang="en-US" smtClean="0">
                <a:solidFill>
                  <a:srgbClr val="000000"/>
                </a:solidFill>
              </a:rPr>
              <a:t>比原题有简化</a:t>
            </a:r>
          </a:p>
        </p:txBody>
      </p:sp>
    </p:spTree>
    <p:extLst>
      <p:ext uri="{BB962C8B-B14F-4D97-AF65-F5344CB8AC3E}">
        <p14:creationId xmlns:p14="http://schemas.microsoft.com/office/powerpoint/2010/main" val="3119474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2578-412B-4890-ACF4-3F6A6BC41620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D93C2-F2CA-4B13-97F1-1D029070A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78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2578-412B-4890-ACF4-3F6A6BC41620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D93C2-F2CA-4B13-97F1-1D029070A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41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2578-412B-4890-ACF4-3F6A6BC41620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D93C2-F2CA-4B13-97F1-1D029070A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046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2578-412B-4890-ACF4-3F6A6BC41620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D93C2-F2CA-4B13-97F1-1D029070A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973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2578-412B-4890-ACF4-3F6A6BC41620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D93C2-F2CA-4B13-97F1-1D029070A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471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2578-412B-4890-ACF4-3F6A6BC41620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D93C2-F2CA-4B13-97F1-1D029070A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63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2578-412B-4890-ACF4-3F6A6BC41620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D93C2-F2CA-4B13-97F1-1D029070A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11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2578-412B-4890-ACF4-3F6A6BC41620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D93C2-F2CA-4B13-97F1-1D029070A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685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2578-412B-4890-ACF4-3F6A6BC41620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D93C2-F2CA-4B13-97F1-1D029070A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197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2578-412B-4890-ACF4-3F6A6BC41620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D93C2-F2CA-4B13-97F1-1D029070A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990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2578-412B-4890-ACF4-3F6A6BC41620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D93C2-F2CA-4B13-97F1-1D029070A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230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72578-412B-4890-ACF4-3F6A6BC41620}" type="datetimeFigureOut">
              <a:rPr lang="zh-CN" altLang="en-US" smtClean="0"/>
              <a:t>2025/03/15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D93C2-F2CA-4B13-97F1-1D029070A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653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1447800" y="555626"/>
            <a:ext cx="9372600" cy="61499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800100" indent="-34290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257300" indent="-3429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714500" indent="-3429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171700" indent="-3429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altLang="zh-CN" sz="2400" dirty="0">
                <a:cs typeface="Arial" charset="0"/>
              </a:rPr>
              <a:t>2.2 </a:t>
            </a:r>
            <a:r>
              <a:rPr lang="zh-CN" altLang="en-US" sz="2400" dirty="0">
                <a:cs typeface="Arial" charset="0"/>
              </a:rPr>
              <a:t>某波</a:t>
            </a:r>
            <a:r>
              <a:rPr lang="en-US" altLang="zh-CN" sz="2400" dirty="0">
                <a:cs typeface="Arial" charset="0"/>
              </a:rPr>
              <a:t>y=8cos2</a:t>
            </a:r>
            <a:r>
              <a:rPr lang="en-US" altLang="zh-CN" sz="2400" dirty="0">
                <a:cs typeface="Arial" charset="0"/>
                <a:sym typeface="Symbol" pitchFamily="18" charset="2"/>
              </a:rPr>
              <a:t>(2t-0.8z)</a:t>
            </a:r>
            <a:r>
              <a:rPr lang="zh-CN" altLang="en-US" sz="2400" dirty="0">
                <a:cs typeface="Arial" charset="0"/>
                <a:sym typeface="Symbol" pitchFamily="18" charset="2"/>
              </a:rPr>
              <a:t>，</a:t>
            </a:r>
            <a:r>
              <a:rPr lang="en-US" altLang="zh-CN" sz="2400" dirty="0">
                <a:cs typeface="Arial" charset="0"/>
                <a:sym typeface="Symbol" pitchFamily="18" charset="2"/>
              </a:rPr>
              <a:t>y</a:t>
            </a:r>
            <a:r>
              <a:rPr lang="zh-CN" altLang="en-US" sz="2400" dirty="0">
                <a:cs typeface="Arial" charset="0"/>
                <a:sym typeface="Symbol" pitchFamily="18" charset="2"/>
              </a:rPr>
              <a:t>单位为</a:t>
            </a:r>
            <a:r>
              <a:rPr lang="en-US" altLang="zh-CN" sz="2400" dirty="0">
                <a:cs typeface="Arial" charset="0"/>
                <a:sym typeface="Symbol" pitchFamily="18" charset="2"/>
              </a:rPr>
              <a:t>m</a:t>
            </a:r>
            <a:r>
              <a:rPr lang="zh-CN" altLang="en-US" sz="2400" dirty="0">
                <a:cs typeface="Arial" charset="0"/>
                <a:sym typeface="Symbol" pitchFamily="18" charset="2"/>
              </a:rPr>
              <a:t>，传播常数单位为</a:t>
            </a:r>
            <a:r>
              <a:rPr lang="en-US" altLang="zh-CN" sz="2400" dirty="0">
                <a:cs typeface="Arial" charset="0"/>
                <a:sym typeface="Symbol" pitchFamily="18" charset="2"/>
              </a:rPr>
              <a:t>m</a:t>
            </a:r>
            <a:r>
              <a:rPr lang="en-US" altLang="zh-CN" sz="2400" baseline="30000" dirty="0">
                <a:cs typeface="Arial" charset="0"/>
                <a:sym typeface="Symbol" pitchFamily="18" charset="2"/>
              </a:rPr>
              <a:t>-1</a:t>
            </a:r>
            <a:r>
              <a:rPr lang="zh-CN" altLang="en-US" sz="2400" dirty="0">
                <a:cs typeface="Arial" charset="0"/>
                <a:sym typeface="Symbol" pitchFamily="18" charset="2"/>
              </a:rPr>
              <a:t>，求波的振幅、波长、角频率、</a:t>
            </a:r>
            <a:r>
              <a:rPr lang="en-US" altLang="zh-CN" sz="2400" dirty="0">
                <a:cs typeface="Arial" charset="0"/>
                <a:sym typeface="Symbol" pitchFamily="18" charset="2"/>
              </a:rPr>
              <a:t>t=0, z=4 </a:t>
            </a:r>
            <a:r>
              <a:rPr lang="zh-CN" altLang="en-US" sz="2400" dirty="0">
                <a:cs typeface="Arial" charset="0"/>
                <a:sym typeface="Symbol" pitchFamily="18" charset="2"/>
              </a:rPr>
              <a:t></a:t>
            </a:r>
            <a:r>
              <a:rPr lang="en-US" altLang="zh-CN" sz="2400" dirty="0">
                <a:cs typeface="Arial" charset="0"/>
                <a:sym typeface="Symbol" pitchFamily="18" charset="2"/>
              </a:rPr>
              <a:t>m</a:t>
            </a:r>
            <a:r>
              <a:rPr lang="zh-CN" altLang="en-US" sz="2400" dirty="0">
                <a:cs typeface="Arial" charset="0"/>
                <a:sym typeface="Symbol" pitchFamily="18" charset="2"/>
              </a:rPr>
              <a:t>的位移。</a:t>
            </a:r>
          </a:p>
          <a:p>
            <a:pPr>
              <a:defRPr/>
            </a:pPr>
            <a:r>
              <a:rPr lang="en-US" altLang="zh-CN" sz="2400" dirty="0">
                <a:cs typeface="Arial" charset="0"/>
              </a:rPr>
              <a:t>2.12 </a:t>
            </a:r>
            <a:r>
              <a:rPr lang="zh-CN" altLang="en-US" sz="2400" dirty="0">
                <a:cs typeface="Arial" charset="0"/>
              </a:rPr>
              <a:t>计算</a:t>
            </a:r>
            <a:r>
              <a:rPr lang="en-US" altLang="zh-CN" sz="2400" dirty="0">
                <a:cs typeface="Arial" charset="0"/>
              </a:rPr>
              <a:t>n</a:t>
            </a:r>
            <a:r>
              <a:rPr lang="en-US" altLang="zh-CN" sz="2400" baseline="-25000" dirty="0">
                <a:cs typeface="Arial" charset="0"/>
              </a:rPr>
              <a:t>1</a:t>
            </a:r>
            <a:r>
              <a:rPr lang="en-US" altLang="zh-CN" sz="2400" dirty="0">
                <a:cs typeface="Arial" charset="0"/>
              </a:rPr>
              <a:t>=1.48</a:t>
            </a:r>
            <a:r>
              <a:rPr lang="zh-CN" altLang="en-US" sz="2400" dirty="0">
                <a:cs typeface="Arial" charset="0"/>
              </a:rPr>
              <a:t>，</a:t>
            </a:r>
            <a:r>
              <a:rPr lang="en-US" altLang="zh-CN" sz="2400" dirty="0">
                <a:cs typeface="Arial" charset="0"/>
              </a:rPr>
              <a:t>n</a:t>
            </a:r>
            <a:r>
              <a:rPr lang="en-US" altLang="zh-CN" sz="2400" baseline="-25000" dirty="0">
                <a:cs typeface="Arial" charset="0"/>
              </a:rPr>
              <a:t>2</a:t>
            </a:r>
            <a:r>
              <a:rPr lang="en-US" altLang="zh-CN" sz="2400" dirty="0">
                <a:cs typeface="Arial" charset="0"/>
              </a:rPr>
              <a:t>=1.46</a:t>
            </a:r>
            <a:r>
              <a:rPr lang="zh-CN" altLang="en-US" sz="2400" dirty="0">
                <a:cs typeface="Arial" charset="0"/>
              </a:rPr>
              <a:t>的阶跃折射率光纤的数值孔径。如果光纤端面外媒介是空气，其折射率</a:t>
            </a:r>
            <a:r>
              <a:rPr lang="en-US" altLang="zh-CN" sz="2400" dirty="0">
                <a:cs typeface="Arial" charset="0"/>
              </a:rPr>
              <a:t>n=1.00</a:t>
            </a:r>
            <a:r>
              <a:rPr lang="zh-CN" altLang="en-US" sz="2400" dirty="0">
                <a:cs typeface="Arial" charset="0"/>
              </a:rPr>
              <a:t>，则光纤的接受角为多少？</a:t>
            </a:r>
            <a:endParaRPr lang="en-US" altLang="zh-CN" sz="2400" dirty="0">
              <a:cs typeface="Arial" charset="0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cs typeface="Arial" charset="0"/>
              </a:rPr>
              <a:t>2.19</a:t>
            </a:r>
            <a:r>
              <a:rPr lang="en-US" altLang="zh-CN" sz="2400" dirty="0">
                <a:cs typeface="Arial" charset="0"/>
              </a:rPr>
              <a:t> (a) </a:t>
            </a:r>
            <a:r>
              <a:rPr lang="zh-CN" altLang="en-US" sz="2400" dirty="0">
                <a:cs typeface="Arial" charset="0"/>
              </a:rPr>
              <a:t>阶跃折射率光纤，纤芯半径为</a:t>
            </a:r>
            <a:r>
              <a:rPr lang="en-US" altLang="zh-CN" sz="2400" dirty="0">
                <a:cs typeface="Arial" charset="0"/>
              </a:rPr>
              <a:t>25</a:t>
            </a:r>
            <a:r>
              <a:rPr lang="zh-CN" altLang="en-US" sz="2400" dirty="0">
                <a:cs typeface="Arial" charset="0"/>
                <a:sym typeface="Symbol" pitchFamily="18" charset="2"/>
              </a:rPr>
              <a:t></a:t>
            </a:r>
            <a:r>
              <a:rPr lang="en-US" altLang="zh-CN" sz="2400" dirty="0">
                <a:cs typeface="Arial" charset="0"/>
                <a:sym typeface="Symbol" pitchFamily="18" charset="2"/>
              </a:rPr>
              <a:t>m</a:t>
            </a:r>
            <a:r>
              <a:rPr lang="zh-CN" altLang="en-US" sz="2400" dirty="0">
                <a:cs typeface="Arial" charset="0"/>
                <a:sym typeface="Symbol" pitchFamily="18" charset="2"/>
              </a:rPr>
              <a:t>，</a:t>
            </a:r>
            <a:r>
              <a:rPr lang="en-US" altLang="zh-CN" sz="2400" dirty="0">
                <a:cs typeface="Arial" charset="0"/>
              </a:rPr>
              <a:t>n</a:t>
            </a:r>
            <a:r>
              <a:rPr lang="en-US" altLang="zh-CN" sz="2400" baseline="-25000" dirty="0">
                <a:cs typeface="Arial" charset="0"/>
              </a:rPr>
              <a:t>1</a:t>
            </a:r>
            <a:r>
              <a:rPr lang="en-US" altLang="zh-CN" sz="2400" dirty="0">
                <a:cs typeface="Arial" charset="0"/>
              </a:rPr>
              <a:t>=1.48</a:t>
            </a:r>
            <a:r>
              <a:rPr lang="zh-CN" altLang="en-US" sz="2400" dirty="0">
                <a:cs typeface="Arial" charset="0"/>
              </a:rPr>
              <a:t>，</a:t>
            </a:r>
            <a:r>
              <a:rPr lang="en-US" altLang="zh-CN" sz="2400" dirty="0">
                <a:cs typeface="Arial" charset="0"/>
              </a:rPr>
              <a:t>n</a:t>
            </a:r>
            <a:r>
              <a:rPr lang="en-US" altLang="zh-CN" sz="2400" baseline="-25000" dirty="0">
                <a:cs typeface="Arial" charset="0"/>
              </a:rPr>
              <a:t>2</a:t>
            </a:r>
            <a:r>
              <a:rPr lang="en-US" altLang="zh-CN" sz="2400" dirty="0">
                <a:cs typeface="Arial" charset="0"/>
              </a:rPr>
              <a:t>=1.46</a:t>
            </a:r>
            <a:r>
              <a:rPr lang="zh-CN" altLang="en-US" sz="2400" dirty="0">
                <a:cs typeface="Arial" charset="0"/>
              </a:rPr>
              <a:t>，计算其归一化频率</a:t>
            </a:r>
            <a:r>
              <a:rPr lang="en-US" altLang="zh-CN" sz="2400" dirty="0">
                <a:cs typeface="Arial" charset="0"/>
              </a:rPr>
              <a:t>V</a:t>
            </a:r>
            <a:r>
              <a:rPr lang="zh-CN" altLang="en-US" sz="2400" dirty="0">
                <a:cs typeface="Arial" charset="0"/>
              </a:rPr>
              <a:t>。</a:t>
            </a:r>
            <a:endParaRPr lang="en-US" altLang="zh-CN" sz="2400" dirty="0">
              <a:cs typeface="Arial" charset="0"/>
            </a:endParaRPr>
          </a:p>
          <a:p>
            <a:pPr marL="0" indent="0">
              <a:buNone/>
              <a:defRPr/>
            </a:pPr>
            <a:r>
              <a:rPr lang="en-US" altLang="zh-CN" sz="2400" dirty="0">
                <a:cs typeface="Arial" charset="0"/>
              </a:rPr>
              <a:t>       (d) </a:t>
            </a:r>
            <a:r>
              <a:rPr lang="zh-CN" altLang="en-US" sz="2400" dirty="0">
                <a:cs typeface="Arial" charset="0"/>
              </a:rPr>
              <a:t>在</a:t>
            </a:r>
            <a:r>
              <a:rPr lang="en-US" altLang="zh-CN" sz="2400" dirty="0">
                <a:cs typeface="Arial" charset="0"/>
              </a:rPr>
              <a:t>1550nm</a:t>
            </a:r>
            <a:r>
              <a:rPr lang="zh-CN" altLang="en-US" sz="2400" dirty="0">
                <a:cs typeface="Arial" charset="0"/>
              </a:rPr>
              <a:t>波长上，此光纤有多少传播模式？</a:t>
            </a:r>
            <a:endParaRPr lang="en-US" altLang="zh-CN" sz="2400" dirty="0">
              <a:cs typeface="Arial" charset="0"/>
            </a:endParaRPr>
          </a:p>
          <a:p>
            <a:pPr marL="0" indent="0">
              <a:buNone/>
              <a:defRPr/>
            </a:pPr>
            <a:r>
              <a:rPr lang="en-US" altLang="zh-CN" sz="2400" dirty="0">
                <a:cs typeface="Arial" charset="0"/>
              </a:rPr>
              <a:t>       (e)</a:t>
            </a:r>
            <a:r>
              <a:rPr lang="zh-CN" altLang="en-US" sz="2400" dirty="0">
                <a:cs typeface="Arial" charset="0"/>
              </a:rPr>
              <a:t>在</a:t>
            </a:r>
            <a:r>
              <a:rPr lang="en-US" altLang="zh-CN" sz="2400" dirty="0">
                <a:cs typeface="Arial" charset="0"/>
              </a:rPr>
              <a:t>1550nm</a:t>
            </a:r>
            <a:r>
              <a:rPr lang="zh-CN" altLang="en-US" sz="2400" dirty="0">
                <a:cs typeface="Arial" charset="0"/>
              </a:rPr>
              <a:t>波长上，有多大百分比的光功率在包层中传播？</a:t>
            </a:r>
            <a:endParaRPr lang="en-US" altLang="zh-CN" sz="2400" dirty="0">
              <a:cs typeface="Arial" charset="0"/>
            </a:endParaRPr>
          </a:p>
          <a:p>
            <a:pPr>
              <a:defRPr/>
            </a:pPr>
            <a:r>
              <a:rPr lang="en-US" altLang="zh-CN" sz="2400" dirty="0">
                <a:cs typeface="Arial" charset="0"/>
              </a:rPr>
              <a:t>2.22 </a:t>
            </a:r>
            <a:r>
              <a:rPr lang="zh-CN" altLang="en-US" sz="2400" dirty="0">
                <a:cs typeface="Arial" charset="0"/>
              </a:rPr>
              <a:t>光纤制作者欲制备石英玻璃纤芯的阶跃折射率光纤，其</a:t>
            </a:r>
            <a:r>
              <a:rPr lang="en-US" altLang="zh-CN" sz="2400" dirty="0">
                <a:cs typeface="Arial" charset="0"/>
              </a:rPr>
              <a:t>V=75</a:t>
            </a:r>
            <a:r>
              <a:rPr lang="zh-CN" altLang="en-US" sz="2400" dirty="0">
                <a:cs typeface="Arial" charset="0"/>
              </a:rPr>
              <a:t>，</a:t>
            </a:r>
            <a:r>
              <a:rPr lang="en-US" altLang="zh-CN" sz="2400" dirty="0">
                <a:cs typeface="Arial" charset="0"/>
              </a:rPr>
              <a:t>NA=0.30</a:t>
            </a:r>
            <a:r>
              <a:rPr lang="zh-CN" altLang="en-US" sz="2400" dirty="0">
                <a:cs typeface="Arial" charset="0"/>
              </a:rPr>
              <a:t>，工作波长为</a:t>
            </a:r>
            <a:r>
              <a:rPr lang="en-US" altLang="zh-CN" sz="2400" dirty="0">
                <a:cs typeface="Arial" charset="0"/>
              </a:rPr>
              <a:t>820nm</a:t>
            </a:r>
            <a:r>
              <a:rPr lang="zh-CN" altLang="en-US" sz="2400" dirty="0">
                <a:cs typeface="Arial" charset="0"/>
              </a:rPr>
              <a:t>，若</a:t>
            </a:r>
            <a:r>
              <a:rPr lang="en-US" altLang="zh-CN" sz="2400" dirty="0">
                <a:cs typeface="Arial" charset="0"/>
              </a:rPr>
              <a:t>n</a:t>
            </a:r>
            <a:r>
              <a:rPr lang="en-US" altLang="zh-CN" sz="2400" baseline="-25000" dirty="0">
                <a:cs typeface="Arial" charset="0"/>
              </a:rPr>
              <a:t>1</a:t>
            </a:r>
            <a:r>
              <a:rPr lang="en-US" altLang="zh-CN" sz="2400" dirty="0">
                <a:cs typeface="Arial" charset="0"/>
              </a:rPr>
              <a:t>=1.458</a:t>
            </a:r>
            <a:r>
              <a:rPr lang="zh-CN" altLang="en-US" sz="2400" dirty="0">
                <a:cs typeface="Arial" charset="0"/>
              </a:rPr>
              <a:t>，则纤芯尺寸应为多大？包层折射率</a:t>
            </a:r>
            <a:r>
              <a:rPr lang="en-US" altLang="zh-CN" sz="2400" dirty="0">
                <a:cs typeface="Arial" charset="0"/>
              </a:rPr>
              <a:t>n</a:t>
            </a:r>
            <a:r>
              <a:rPr lang="en-US" altLang="zh-CN" sz="2400" baseline="-25000" dirty="0">
                <a:cs typeface="Arial" charset="0"/>
              </a:rPr>
              <a:t>2</a:t>
            </a:r>
            <a:r>
              <a:rPr lang="zh-CN" altLang="en-US" sz="2400" dirty="0">
                <a:cs typeface="Arial" charset="0"/>
              </a:rPr>
              <a:t>为多少？</a:t>
            </a:r>
            <a:endParaRPr lang="en-US" altLang="zh-CN" sz="2400" dirty="0">
              <a:cs typeface="Arial" charset="0"/>
            </a:endParaRPr>
          </a:p>
          <a:p>
            <a:pPr>
              <a:defRPr/>
            </a:pPr>
            <a:r>
              <a:rPr lang="en-US" altLang="zh-CN" sz="2400" dirty="0">
                <a:cs typeface="Arial" charset="0"/>
              </a:rPr>
              <a:t>2.25 </a:t>
            </a:r>
            <a:r>
              <a:rPr lang="zh-CN" altLang="en-US" sz="2400" dirty="0">
                <a:cs typeface="Arial" charset="0"/>
              </a:rPr>
              <a:t>常用单模光纤拍长范围为</a:t>
            </a:r>
            <a:r>
              <a:rPr lang="en-US" altLang="zh-CN" sz="2400" dirty="0">
                <a:cs typeface="Arial" charset="0"/>
              </a:rPr>
              <a:t>10cm&lt;L</a:t>
            </a:r>
            <a:r>
              <a:rPr lang="en-US" altLang="zh-CN" sz="2400" baseline="-25000" dirty="0">
                <a:cs typeface="Arial" charset="0"/>
              </a:rPr>
              <a:t>P</a:t>
            </a:r>
            <a:r>
              <a:rPr lang="en-US" altLang="zh-CN" sz="2400" dirty="0">
                <a:cs typeface="Arial" charset="0"/>
              </a:rPr>
              <a:t>&lt;2m</a:t>
            </a:r>
            <a:r>
              <a:rPr lang="zh-CN" altLang="en-US" sz="2400" dirty="0">
                <a:cs typeface="Arial" charset="0"/>
              </a:rPr>
              <a:t>，在</a:t>
            </a:r>
            <a:r>
              <a:rPr lang="zh-CN" altLang="en-US" sz="2400" dirty="0">
                <a:cs typeface="Arial" charset="0"/>
                <a:sym typeface="Symbol"/>
              </a:rPr>
              <a:t></a:t>
            </a:r>
            <a:r>
              <a:rPr lang="en-US" altLang="zh-CN" sz="2400" dirty="0">
                <a:cs typeface="Arial" charset="0"/>
                <a:sym typeface="Symbol"/>
              </a:rPr>
              <a:t>=1300nm</a:t>
            </a:r>
            <a:r>
              <a:rPr lang="zh-CN" altLang="en-US" sz="2400" dirty="0">
                <a:cs typeface="Arial" charset="0"/>
                <a:sym typeface="Symbol"/>
              </a:rPr>
              <a:t>条件下，与此拍长范围相应的双折射率差的范围是多大？</a:t>
            </a:r>
            <a:endParaRPr lang="en-US" altLang="zh-CN" sz="2400" dirty="0">
              <a:cs typeface="Arial" charset="0"/>
              <a:sym typeface="Symbol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cs typeface="Arial" charset="0"/>
                <a:sym typeface="Symbol"/>
              </a:rPr>
              <a:t>2.27</a:t>
            </a:r>
            <a:r>
              <a:rPr lang="en-US" altLang="zh-CN" sz="2400" dirty="0">
                <a:cs typeface="Arial" charset="0"/>
                <a:sym typeface="Symbol"/>
              </a:rPr>
              <a:t> </a:t>
            </a:r>
            <a:r>
              <a:rPr lang="zh-CN" altLang="en-US" sz="2400" dirty="0">
                <a:cs typeface="Arial" charset="0"/>
                <a:sym typeface="Symbol"/>
              </a:rPr>
              <a:t>计算一抛物线型折射率剖面</a:t>
            </a:r>
            <a:r>
              <a:rPr lang="en-US" altLang="zh-CN" sz="2400" dirty="0">
                <a:cs typeface="Arial" charset="0"/>
                <a:sym typeface="Symbol"/>
              </a:rPr>
              <a:t>(=2)</a:t>
            </a:r>
            <a:r>
              <a:rPr lang="zh-CN" altLang="en-US" sz="2400" dirty="0">
                <a:cs typeface="Arial" charset="0"/>
                <a:sym typeface="Symbol"/>
              </a:rPr>
              <a:t>，纤芯半径</a:t>
            </a:r>
            <a:r>
              <a:rPr lang="en-US" altLang="zh-CN" sz="2400" dirty="0">
                <a:cs typeface="Arial" charset="0"/>
                <a:sym typeface="Symbol"/>
              </a:rPr>
              <a:t>a=25</a:t>
            </a:r>
            <a:r>
              <a:rPr lang="zh-CN" altLang="en-US" sz="2400" dirty="0">
                <a:cs typeface="Arial" charset="0"/>
                <a:sym typeface="Symbol" pitchFamily="18" charset="2"/>
              </a:rPr>
              <a:t></a:t>
            </a:r>
            <a:r>
              <a:rPr lang="en-US" altLang="zh-CN" sz="2400" dirty="0">
                <a:cs typeface="Arial" charset="0"/>
                <a:sym typeface="Symbol" pitchFamily="18" charset="2"/>
              </a:rPr>
              <a:t>m,</a:t>
            </a:r>
            <a:r>
              <a:rPr lang="en-US" altLang="zh-CN" sz="2400" dirty="0">
                <a:cs typeface="Arial" charset="0"/>
              </a:rPr>
              <a:t> n</a:t>
            </a:r>
            <a:r>
              <a:rPr lang="en-US" altLang="zh-CN" sz="2400" baseline="-25000" dirty="0">
                <a:cs typeface="Arial" charset="0"/>
              </a:rPr>
              <a:t>1</a:t>
            </a:r>
            <a:r>
              <a:rPr lang="en-US" altLang="zh-CN" sz="2400" dirty="0">
                <a:cs typeface="Arial" charset="0"/>
              </a:rPr>
              <a:t>=1.48</a:t>
            </a:r>
            <a:r>
              <a:rPr lang="zh-CN" altLang="en-US" sz="2400" dirty="0">
                <a:cs typeface="Arial" charset="0"/>
              </a:rPr>
              <a:t>，</a:t>
            </a:r>
            <a:r>
              <a:rPr lang="en-US" altLang="zh-CN" sz="2400" dirty="0">
                <a:cs typeface="Arial" charset="0"/>
              </a:rPr>
              <a:t>n</a:t>
            </a:r>
            <a:r>
              <a:rPr lang="en-US" altLang="zh-CN" sz="2400" baseline="-25000" dirty="0">
                <a:cs typeface="Arial" charset="0"/>
              </a:rPr>
              <a:t>2</a:t>
            </a:r>
            <a:r>
              <a:rPr lang="en-US" altLang="zh-CN" sz="2400" dirty="0">
                <a:cs typeface="Arial" charset="0"/>
              </a:rPr>
              <a:t>=1.46</a:t>
            </a:r>
            <a:r>
              <a:rPr lang="zh-CN" altLang="en-US" sz="2400" dirty="0">
                <a:cs typeface="Arial" charset="0"/>
              </a:rPr>
              <a:t>的梯度折射率光纤，在工作波长为</a:t>
            </a:r>
            <a:r>
              <a:rPr lang="en-US" altLang="zh-CN" sz="2400" dirty="0">
                <a:cs typeface="Arial" charset="0"/>
              </a:rPr>
              <a:t>820nm</a:t>
            </a:r>
            <a:r>
              <a:rPr lang="zh-CN" altLang="en-US" sz="2400" dirty="0">
                <a:cs typeface="Arial" charset="0"/>
              </a:rPr>
              <a:t>时的模式总数。</a:t>
            </a:r>
            <a:endParaRPr lang="zh-CN" altLang="zh-CN" sz="2400" dirty="0">
              <a:cs typeface="Arial" charset="0"/>
            </a:endParaRPr>
          </a:p>
        </p:txBody>
      </p:sp>
      <p:sp>
        <p:nvSpPr>
          <p:cNvPr id="80899" name="Title 1"/>
          <p:cNvSpPr>
            <a:spLocks noGrp="1"/>
          </p:cNvSpPr>
          <p:nvPr>
            <p:ph type="title" idx="4294967295"/>
          </p:nvPr>
        </p:nvSpPr>
        <p:spPr>
          <a:xfrm>
            <a:off x="1943100" y="30163"/>
            <a:ext cx="8229600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4000" b="1">
                <a:solidFill>
                  <a:schemeClr val="tx2"/>
                </a:solidFill>
              </a:rPr>
              <a:t>作业</a:t>
            </a:r>
          </a:p>
        </p:txBody>
      </p:sp>
    </p:spTree>
    <p:extLst>
      <p:ext uri="{BB962C8B-B14F-4D97-AF65-F5344CB8AC3E}">
        <p14:creationId xmlns:p14="http://schemas.microsoft.com/office/powerpoint/2010/main" val="239402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81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81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819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819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819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宽屏</PresentationFormat>
  <Paragraphs>10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Symbol</vt:lpstr>
      <vt:lpstr>Office 主题​​</vt:lpstr>
      <vt:lpstr>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</dc:title>
  <dc:creator>SCUT</dc:creator>
  <cp:lastModifiedBy>SCUT</cp:lastModifiedBy>
  <cp:revision>1</cp:revision>
  <dcterms:created xsi:type="dcterms:W3CDTF">2025-03-15T08:16:13Z</dcterms:created>
  <dcterms:modified xsi:type="dcterms:W3CDTF">2025-03-15T08:16:36Z</dcterms:modified>
</cp:coreProperties>
</file>