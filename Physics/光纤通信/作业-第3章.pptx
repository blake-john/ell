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8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365F8-7433-4B63-949E-76288067F303}" type="datetimeFigureOut">
              <a:rPr lang="zh-CN" altLang="en-US" smtClean="0"/>
              <a:t>2024/04/23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56F03-F450-40C8-BE4A-2E2658D09B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5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A456-8E0A-49AC-B79A-F5ED173C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9220C-6AC2-4C8B-A983-EA68C21E0C28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229B-F43A-48E4-9B7C-516DDC91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8CEC-2BEF-4CCC-A188-A3B5F962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40C32-7FDA-4D9E-B9B8-42BAB3CA4A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89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B8BA-C47E-4E58-8446-F50C1C98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18EA2-47CA-46B7-9298-54FBDA51A720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F1462-454A-41BD-835C-3CA917DD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F8CAE-58B3-4176-8941-4A458059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015B8-CBD5-401B-8D14-B3326F723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250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F745-73E3-4476-B3AF-118DB79B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686CA-5DE6-42E4-B015-F84D6C6B56D2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EFFD-B72D-4541-8BA2-32BA63CF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0EF58-9CDD-4FF4-B8C4-C2060FA9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CF945-DCAD-47EC-9D7E-3C4B70ED67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1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E7076D0-F059-4A57-9B5F-7503B8C4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4E2C7-C5F2-4BF5-BC71-D4CB1AE79B0D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F5281C-514D-457E-AB64-9B23EBC1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C5C17E4-2394-4AA7-ADDA-2C95AEF4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F3F25-C3A2-4336-AA7B-398A10DAB2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551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60714B-CB66-4688-B0E0-B1845B7A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A9DC5-B8C1-4397-859C-E911832F7518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84B856-4BAC-4A30-AD23-DF539640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B83F5-0D8B-40B8-918B-0BF02EAF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3B1C6-3609-4A53-87D9-4377108B2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45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66A35A-0CC1-4316-9718-7E5A4CB1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69925-534C-4862-A3D9-732E555D2366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E1EC84-5ED3-4D11-ADFD-174B0BA1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6D49ED-578C-4E53-881C-2E59F96F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561D1-24BB-4BE4-AF9E-5A64E30EA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06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6624E1-30E9-4AB8-AF97-69656689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8B2B8-129E-43D7-A3D3-9E47DC164B66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8B81BD-3F8A-4C4A-A04E-A60AAA73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3B7165-EE86-41F4-BC4C-11A6DDDD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EF372-E2E6-4079-B155-63A940363D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22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398D791-4373-404E-B485-498865CC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4F95E-F9CF-41C0-AB4E-81CB8B58F350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BC014C-CDE5-42AA-93F5-4425AD54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4BFD1-5FF7-4545-BA8A-D8686E55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D84B2-C28F-4E9A-AA83-622504B264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97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2DB343-A9D1-4F14-9C95-7597E705A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B61C6-F01C-483D-8A53-E4C83559AEE5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C76F2B-341E-43F9-811D-ABF0662E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47C8FD-E87C-4A5E-86E0-9DE418AE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B67FD-3DF2-4E74-9BAD-C6BE090F34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945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A935-93DA-43F9-B067-41D3FFC0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E9A1A-795C-4BD0-B6C4-93BDF7B54ACD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0A35C-C3C4-43A2-A49D-943D8E98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29E2-30A1-43EC-9FA5-48A6A781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75413-AE07-441B-AD9A-36008595F9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25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5F994-FF33-4770-9243-2BA1B2FB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76A41-7E2F-4833-BD32-84B099F70FE7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8D73-3FEA-4732-A4E8-3203DE5B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013C9-0BC8-4E07-8C3E-10DFB7B2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CE255-9DB5-42C4-BB72-3A825AF428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43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C3A9DD7-D502-411A-BE3E-2500D6AAB56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AF55B35-0844-452D-A195-1B26AC076F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2F68-1D73-43AC-94D2-80E3688D7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A341B654-DD90-4D2D-B16E-9F47F6F3A867}" type="datetime1">
              <a:rPr lang="zh-CN" altLang="en-US"/>
              <a:pPr>
                <a:defRPr/>
              </a:pPr>
              <a:t>2024/04/23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DFEDC-FA30-4485-9CF1-A152EE42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BF986-98C6-439B-83E4-1D5CEC56A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0686DC5-8BE1-4D9E-A978-60E08B3EF8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66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>
            <a:extLst>
              <a:ext uri="{FF2B5EF4-FFF2-40B4-BE49-F238E27FC236}">
                <a16:creationId xmlns:a16="http://schemas.microsoft.com/office/drawing/2014/main" id="{40BF5B41-A61E-4FDC-8F71-621CF5EA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2"/>
                </a:solidFill>
              </a:rPr>
              <a:t>第</a:t>
            </a:r>
            <a:r>
              <a:rPr lang="en-US" altLang="zh-CN" sz="3600" b="1" dirty="0">
                <a:solidFill>
                  <a:schemeClr val="tx2"/>
                </a:solidFill>
              </a:rPr>
              <a:t>3</a:t>
            </a:r>
            <a:r>
              <a:rPr lang="zh-CN" altLang="en-US" sz="3600" b="1" dirty="0">
                <a:solidFill>
                  <a:schemeClr val="tx2"/>
                </a:solidFill>
              </a:rPr>
              <a:t>章作业 （请按照这里的题目做）</a:t>
            </a:r>
            <a:endParaRPr lang="zh-CN" altLang="en-US" sz="3600" dirty="0"/>
          </a:p>
        </p:txBody>
      </p:sp>
      <p:sp>
        <p:nvSpPr>
          <p:cNvPr id="187395" name="内容占位符 2">
            <a:extLst>
              <a:ext uri="{FF2B5EF4-FFF2-40B4-BE49-F238E27FC236}">
                <a16:creationId xmlns:a16="http://schemas.microsoft.com/office/drawing/2014/main" id="{B255C5B2-5205-422E-9838-C8B3A1DC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33528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3.2 </a:t>
            </a:r>
            <a:r>
              <a:rPr lang="zh-CN" altLang="en-US" sz="2000" dirty="0"/>
              <a:t>某光纤在</a:t>
            </a:r>
            <a:r>
              <a:rPr lang="en-US" altLang="zh-CN" sz="2000" dirty="0"/>
              <a:t>1550nm</a:t>
            </a:r>
            <a:r>
              <a:rPr lang="zh-CN" altLang="en-US" sz="2000" dirty="0"/>
              <a:t>处的损耗为</a:t>
            </a:r>
            <a:r>
              <a:rPr lang="en-US" altLang="zh-CN" sz="2000" dirty="0"/>
              <a:t>0.3dB/km</a:t>
            </a:r>
            <a:r>
              <a:rPr lang="zh-CN" altLang="en-US" sz="2000" dirty="0"/>
              <a:t>。假设</a:t>
            </a:r>
            <a:r>
              <a:rPr lang="en-US" altLang="zh-CN" sz="2000" dirty="0"/>
              <a:t>1550nm</a:t>
            </a:r>
            <a:r>
              <a:rPr lang="zh-CN" altLang="en-US" sz="2000" dirty="0"/>
              <a:t>波长的</a:t>
            </a:r>
            <a:r>
              <a:rPr lang="en-US" altLang="zh-CN" sz="2000" dirty="0"/>
              <a:t>100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W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光信号进入光纤，求该信号在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20km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处的功率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以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W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为单位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是多少？</a:t>
            </a:r>
            <a:endParaRPr lang="en-US" altLang="zh-CN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3.4 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一段连续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40km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长的光纤线路损耗为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0.4dB/km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，如果在接收端保持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2.0 W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的接收光功率，则注入光纤的最小光功率必须是多少？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以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dBm</a:t>
            </a:r>
            <a:r>
              <a:rPr lang="zh-CN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为单位</a:t>
            </a:r>
            <a:r>
              <a:rPr lang="en-US" altLang="zh-CN" sz="20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>
              <a:defRPr/>
            </a:pPr>
            <a:r>
              <a:rPr lang="en-US" altLang="zh-CN" sz="2000" dirty="0"/>
              <a:t>3.13(b) </a:t>
            </a:r>
            <a:r>
              <a:rPr lang="zh-CN" altLang="en-US" sz="2000" dirty="0"/>
              <a:t>工作波长</a:t>
            </a:r>
            <a:r>
              <a:rPr lang="en-US" altLang="zh-CN" sz="2000" dirty="0"/>
              <a:t>1550nm</a:t>
            </a:r>
            <a:r>
              <a:rPr lang="zh-CN" altLang="en-US" sz="2000" dirty="0"/>
              <a:t>，谱宽为</a:t>
            </a:r>
            <a:r>
              <a:rPr lang="en-US" altLang="zh-CN" sz="2000" dirty="0"/>
              <a:t>75nm</a:t>
            </a:r>
            <a:r>
              <a:rPr lang="zh-CN" altLang="en-US" sz="2000" dirty="0"/>
              <a:t>的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0" indent="0">
              <a:buNone/>
              <a:defRPr/>
            </a:pPr>
            <a:r>
              <a:rPr lang="zh-CN" altLang="en-US" sz="2000" dirty="0"/>
              <a:t>      求其每传输</a:t>
            </a:r>
            <a:r>
              <a:rPr lang="en-US" altLang="zh-CN" sz="2000" dirty="0"/>
              <a:t>1km</a:t>
            </a:r>
            <a:r>
              <a:rPr lang="zh-CN" altLang="en-US" sz="2000" dirty="0"/>
              <a:t>，由材料色散导致的脉冲展宽。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/>
              <a:t>       </a:t>
            </a:r>
            <a:r>
              <a:rPr lang="zh-CN" altLang="en-US" sz="2000" dirty="0"/>
              <a:t>用右图估算        即材料色散系数。</a:t>
            </a:r>
          </a:p>
        </p:txBody>
      </p:sp>
      <p:sp>
        <p:nvSpPr>
          <p:cNvPr id="187396" name="灯片编号占位符 3">
            <a:extLst>
              <a:ext uri="{FF2B5EF4-FFF2-40B4-BE49-F238E27FC236}">
                <a16:creationId xmlns:a16="http://schemas.microsoft.com/office/drawing/2014/main" id="{D167DB6D-0C67-4793-BD13-3FDAF1E5A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A904D63-D6E9-43E7-8C91-34826C8A3BB3}" type="slidenum">
              <a:rPr lang="zh-CN" altLang="en-US" sz="1200">
                <a:solidFill>
                  <a:srgbClr val="898989"/>
                </a:solidFill>
                <a:ea typeface="宋体" panose="02010600030101010101" pitchFamily="2" charset="-122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Content Placeholder 2" descr="keis80717_0313.jpg">
            <a:extLst>
              <a:ext uri="{FF2B5EF4-FFF2-40B4-BE49-F238E27FC236}">
                <a16:creationId xmlns:a16="http://schemas.microsoft.com/office/drawing/2014/main" id="{67E0DAA3-4500-43F6-9928-FA8FAA844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2362200"/>
            <a:ext cx="2857500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6">
            <a:extLst>
              <a:ext uri="{FF2B5EF4-FFF2-40B4-BE49-F238E27FC236}">
                <a16:creationId xmlns:a16="http://schemas.microsoft.com/office/drawing/2014/main" id="{81F0F256-3F19-4DE2-A847-D3FC48CC3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3200401"/>
          <a:ext cx="3841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4" imgW="253890" imgH="393529" progId="Equation.DSMT4">
                  <p:embed/>
                </p:oleObj>
              </mc:Choice>
              <mc:Fallback>
                <p:oleObj name="Equation" r:id="rId4" imgW="253890" imgH="393529" progId="Equation.DSMT4">
                  <p:embed/>
                  <p:pic>
                    <p:nvPicPr>
                      <p:cNvPr id="6" name="Object 36">
                        <a:extLst>
                          <a:ext uri="{FF2B5EF4-FFF2-40B4-BE49-F238E27FC236}">
                            <a16:creationId xmlns:a16="http://schemas.microsoft.com/office/drawing/2014/main" id="{81F0F256-3F19-4DE2-A847-D3FC48CC3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3200401"/>
                        <a:ext cx="38417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336FA17-C4EC-4453-8B01-4D365EB9BC43}"/>
              </a:ext>
            </a:extLst>
          </p:cNvPr>
          <p:cNvSpPr txBox="1"/>
          <p:nvPr/>
        </p:nvSpPr>
        <p:spPr>
          <a:xfrm>
            <a:off x="2057400" y="4930776"/>
            <a:ext cx="57150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3.19 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某光纤单位长度上的群时延与波长间的关系为</a:t>
            </a:r>
            <a:endParaRPr lang="en-US" altLang="zh-CN" sz="2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1" name="Object 25">
            <a:extLst>
              <a:ext uri="{FF2B5EF4-FFF2-40B4-BE49-F238E27FC236}">
                <a16:creationId xmlns:a16="http://schemas.microsoft.com/office/drawing/2014/main" id="{B3335CDB-25DB-40D8-81C3-F7218EBC5D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5284788"/>
          <a:ext cx="2141538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6" imgW="1218671" imgH="203112" progId="Equation.DSMT4">
                  <p:embed/>
                </p:oleObj>
              </mc:Choice>
              <mc:Fallback>
                <p:oleObj name="Equation" r:id="rId6" imgW="1218671" imgH="203112" progId="Equation.DSMT4">
                  <p:embed/>
                  <p:pic>
                    <p:nvPicPr>
                      <p:cNvPr id="11" name="Object 25">
                        <a:extLst>
                          <a:ext uri="{FF2B5EF4-FFF2-40B4-BE49-F238E27FC236}">
                            <a16:creationId xmlns:a16="http://schemas.microsoft.com/office/drawing/2014/main" id="{B3335CDB-25DB-40D8-81C3-F7218EBC5D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284788"/>
                        <a:ext cx="2141538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30869C6-D382-4DF1-99AC-741E65867060}"/>
              </a:ext>
            </a:extLst>
          </p:cNvPr>
          <p:cNvSpPr txBox="1"/>
          <p:nvPr/>
        </p:nvSpPr>
        <p:spPr>
          <a:xfrm>
            <a:off x="2362200" y="5673725"/>
            <a:ext cx="7696200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为求出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，须实验测得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零色散波长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处的色散斜率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、及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处的时延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</a:t>
            </a:r>
            <a:r>
              <a:rPr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。请写出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的推导过程，并利用它们的值求出该光纤的色散</a:t>
            </a:r>
            <a:r>
              <a:rPr lang="zh-CN" altLang="en-US" sz="2000" dirty="0" smtClean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系数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随</a:t>
            </a:r>
            <a:r>
              <a:rPr lang="zh-CN" altLang="en-US" sz="2000" dirty="0" smtClean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波长的变化关系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208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宋体</vt:lpstr>
      <vt:lpstr>Arial</vt:lpstr>
      <vt:lpstr>Calibri</vt:lpstr>
      <vt:lpstr>Symbol</vt:lpstr>
      <vt:lpstr>Times New Roman</vt:lpstr>
      <vt:lpstr>Office Theme</vt:lpstr>
      <vt:lpstr>Equation</vt:lpstr>
      <vt:lpstr>第3章作业 （请按照这里的题目做）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 （不用抄题，请写清题号）</dc:title>
  <dc:creator>SCUT</dc:creator>
  <cp:lastModifiedBy>SCUT</cp:lastModifiedBy>
  <cp:revision>7</cp:revision>
  <dcterms:created xsi:type="dcterms:W3CDTF">2022-03-15T12:44:09Z</dcterms:created>
  <dcterms:modified xsi:type="dcterms:W3CDTF">2024-04-23T01:44:24Z</dcterms:modified>
</cp:coreProperties>
</file>