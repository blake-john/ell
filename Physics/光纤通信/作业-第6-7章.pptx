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4" r:id="rId2"/>
    <p:sldId id="30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CBB68-E20F-45E0-9F97-A0564D68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93EC3-D076-43BF-9CC4-3F19CA22DE8F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25689-4F31-44CF-8C05-B7DF9BBB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C565E-69F4-4D02-B189-9D6BBCE7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D5778-4C5B-40A9-832C-A48835B7BF5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0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7B8B8-8DAD-4386-9711-1C351715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7E070-3199-4E52-B8F5-5916982FDB33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CC43-74EE-46CE-9203-F74D9E03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9AFA-69B9-468A-BF33-CA5BED51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0BC79-BD16-45D5-B72C-1241908A99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165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7B1D9-0877-4CD0-BD3E-0A01F9399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7F984-0EBE-4C4A-8EBF-A4202037D983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F3A5B-631A-4003-8BE6-B9A083EE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8E52-3AB8-40F6-8094-3362DE3C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DBAA-37A6-492C-B1E3-C6D400587C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51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8D4FC4-0A99-4450-8F46-655EE584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BB424-F5C9-4847-A6E2-7AF7BB8189F3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C50C4F-6341-47E0-9603-FB352FF6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6FE38F-89D6-4F8A-95EB-FF3B90A3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AD1F8-B74C-417F-AA7E-6C4B8AA2583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11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907B59-36EF-4F46-BDB0-90172A27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59A1B-C87B-44D1-B138-1B3EEA85AB06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7E4E02-B89C-423D-B42C-B4B79E66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2ADFAC2-F207-4E75-A174-2AE29B3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6AAFD-08E2-46F1-A9A2-BB57C37518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42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27646E0-ABA3-4A73-9AC3-2844C084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7732F-C227-4AE0-8B35-26BE16FB36AE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DB6170-129C-480C-8FE4-DE34CF47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399EB8-5D68-44F4-9C59-9E80ECE7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FA8A8-9A83-4B58-A2E5-32E7871D46E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887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203626-473D-437E-B18E-24BE3CB5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52323-D27C-4697-B9E4-741310A792B6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4E9E39B-4AC6-4916-BA37-8E0CC141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680E9E-1271-4D99-8AEB-801A60FF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50C81-6450-4D56-967B-0B34C8370CD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0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7FF02D-F909-4CF1-9ADA-5A484789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0B9E9-A138-4BCD-85F3-335DC279D21D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6B830E-7FD7-44B7-B41F-3934FCBA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BA853E0-0ACF-4768-A9E8-DBC6D602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16867-408B-4236-897E-47B5C607A5D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775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8FF7B0-DB43-4E0C-A277-C8BBD4D8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5F902-92E8-4685-AA93-866664869670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5BDF11-65DC-4D6D-AFB5-EBB5286D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898783-C8E8-44C9-80AC-CED2B849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7F02F-8D61-4932-AE6B-4005F37CFC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683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533E3-20CB-4CDF-9FCC-DB1BAEC5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DD823-2A5A-436E-BF38-3C3D857F3332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E200-99AA-4B8E-AC2E-FCAD9A92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9352-1478-4151-8FFE-135A39D1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EBE36-345C-472C-BC86-8414946CA2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63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8F15-1E14-4F8E-9E62-EAB314C8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B886B-A7FD-47A2-833C-95B3935FEE0F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5B544-485E-4B3D-A189-BFA1DE35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DE58-4924-4CB5-A828-B708A99F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7BA7F-D4DC-47F5-A514-574855C4236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05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B80B7AA-5B5D-4FFA-B94F-F53B9547CBD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9701922F-5BB7-48AD-8D11-F7F399B8EF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DE97F-FA09-4C3B-B909-F4B3FD598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898989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893866C-2439-4063-82C2-C239AC44C749}" type="datetime1">
              <a:rPr lang="zh-CN" altLang="en-US"/>
              <a:pPr>
                <a:defRPr/>
              </a:pPr>
              <a:t>2024/05/21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2D417-6D60-4F92-863B-651A4FC7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898989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B43E5-1EB2-45BC-A760-3DF0FCDC6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6A176C64-6747-4815-A04A-96F2A81D74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39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2958A-80EF-4727-AF5D-638962EF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第六章作业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EE89C-8B1B-4F37-9596-4DD854BC5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458200" cy="2743200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6.8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假设一个雪崩光电二极管有如下参数：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=1nA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=1nA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=0.85, F=M</a:t>
            </a:r>
            <a:r>
              <a:rPr lang="en-US" altLang="zh-CN" sz="20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1/2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R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=1000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=1kHz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。一个正弦光信号</a:t>
            </a:r>
            <a:r>
              <a:rPr lang="en-US" altLang="zh-CN" sz="2000" i="1" dirty="0">
                <a:latin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</a:rPr>
              <a:t>)=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000" dirty="0">
                <a:latin typeface="Times New Roman" panose="02020603050405020304" pitchFamily="18" charset="0"/>
              </a:rPr>
              <a:t>(1+</a:t>
            </a:r>
            <a:r>
              <a:rPr lang="en-US" altLang="zh-CN" sz="2000" i="1" dirty="0">
                <a:latin typeface="Times New Roman" panose="02020603050405020304" pitchFamily="18" charset="0"/>
              </a:rPr>
              <a:t>m </a:t>
            </a:r>
            <a:r>
              <a:rPr lang="en-US" altLang="zh-CN" sz="2000" dirty="0" err="1">
                <a:latin typeface="Times New Roman" panose="02020603050405020304" pitchFamily="18" charset="0"/>
              </a:rPr>
              <a:t>cos</a:t>
            </a:r>
            <a:r>
              <a:rPr lang="en-US" altLang="zh-CN" sz="2000" i="1" dirty="0" err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t</a:t>
            </a:r>
            <a:r>
              <a:rPr lang="en-US" altLang="zh-CN" sz="2000" i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的中心波长为</a:t>
            </a:r>
            <a:r>
              <a:rPr lang="en-US" altLang="zh-CN" sz="2000" dirty="0">
                <a:latin typeface="Times New Roman" panose="02020603050405020304" pitchFamily="18" charset="0"/>
              </a:rPr>
              <a:t>850nm</a:t>
            </a:r>
            <a:r>
              <a:rPr lang="zh-CN" altLang="en-US" sz="2000" dirty="0">
                <a:latin typeface="Times New Roman" panose="02020603050405020304" pitchFamily="18" charset="0"/>
              </a:rPr>
              <a:t>，调制指数为</a:t>
            </a:r>
            <a:r>
              <a:rPr lang="en-US" altLang="zh-CN" sz="2000" dirty="0">
                <a:latin typeface="Times New Roman" panose="02020603050405020304" pitchFamily="18" charset="0"/>
              </a:rPr>
              <a:t>m=0.85</a:t>
            </a:r>
            <a:r>
              <a:rPr lang="zh-CN" altLang="en-US" sz="2000" dirty="0">
                <a:latin typeface="Times New Roman" panose="02020603050405020304" pitchFamily="18" charset="0"/>
              </a:rPr>
              <a:t>，平均功率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= -50dBm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，该光信号在室温条件下入射到光检测器上，求增益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M=50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时的信噪比。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6F7A3-C421-4126-ADAA-9B4A174A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C108-BA78-43FA-86F4-973565F97C16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51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6B06E-FF24-4943-8E97-F0FA3C9F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r>
              <a:rPr lang="zh-CN" altLang="en-US" sz="3200" dirty="0"/>
              <a:t>第七章作业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7E68D8-8AC8-43C8-B7A5-26212959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914401"/>
            <a:ext cx="8382000" cy="3276601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7.5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的信号电压为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，码元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的信号电压为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。如果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|0)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|1)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均为高斯分布，且对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|0)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l-GR" altLang="zh-CN" sz="2000" i="1" dirty="0">
                <a:latin typeface="Times New Roman" panose="02020603050405020304" pitchFamily="18" charset="0"/>
              </a:rPr>
              <a:t>σ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=0.20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|1)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l-GR" altLang="zh-CN" sz="2000" i="1" dirty="0">
                <a:latin typeface="Times New Roman" panose="02020603050405020304" pitchFamily="18" charset="0"/>
              </a:rPr>
              <a:t>σ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=0.24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。请写出误码率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的表达式。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表达式为积分形式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7.7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1300nm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波段，发射到光纤中的光功率为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W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LED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和光检测器之间的衰减为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40dB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，光检测器的量子效率为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0.65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，那么检测器在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1ns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的时间里产生的电子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空穴对少于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不包括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的概率是多少？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7.9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1/2 (1-erf x 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，当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大于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时，有一个有用的近似表达式：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6AF7A-5ED6-45C6-AF35-3F84A51A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260BC79-BD16-45D5-B72C-1241908A99AD}" type="slidenum">
              <a:rPr lang="zh-CN" altLang="en-US">
                <a:ea typeface="宋体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ea typeface="宋体"/>
              <a:cs typeface="Arial" panose="020B0604020202020204" pitchFamily="34" charset="0"/>
            </a:endParaRPr>
          </a:p>
        </p:txBody>
      </p:sp>
      <p:graphicFrame>
        <p:nvGraphicFramePr>
          <p:cNvPr id="5" name="Object 34">
            <a:extLst>
              <a:ext uri="{FF2B5EF4-FFF2-40B4-BE49-F238E27FC236}">
                <a16:creationId xmlns:a16="http://schemas.microsoft.com/office/drawing/2014/main" id="{1289ACA9-83DD-4F8B-B03F-26AC82EB6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112937"/>
              </p:ext>
            </p:extLst>
          </p:nvPr>
        </p:nvGraphicFramePr>
        <p:xfrm>
          <a:off x="5029200" y="4233337"/>
          <a:ext cx="2463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1295280" imgH="457200" progId="Equation.DSMT4">
                  <p:embed/>
                </p:oleObj>
              </mc:Choice>
              <mc:Fallback>
                <p:oleObj name="Equation" r:id="rId3" imgW="1295280" imgH="457200" progId="Equation.DSMT4">
                  <p:embed/>
                  <p:pic>
                    <p:nvPicPr>
                      <p:cNvPr id="5" name="Object 34">
                        <a:extLst>
                          <a:ext uri="{FF2B5EF4-FFF2-40B4-BE49-F238E27FC236}">
                            <a16:creationId xmlns:a16="http://schemas.microsoft.com/office/drawing/2014/main" id="{1289ACA9-83DD-4F8B-B03F-26AC82EB6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233337"/>
                        <a:ext cx="24638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17BA359-289C-4198-B91D-AF4B642DA36B}"/>
              </a:ext>
            </a:extLst>
          </p:cNvPr>
          <p:cNvSpPr txBox="1"/>
          <p:nvPr/>
        </p:nvSpPr>
        <p:spPr>
          <a:xfrm>
            <a:off x="2209800" y="5190072"/>
            <a:ext cx="8001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使用这个近似式，考虑一个通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断二进制系统，它等概率地发送信号值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，噪声为高斯噪声。假设</a:t>
            </a:r>
            <a:r>
              <a:rPr lang="el-GR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Arial" panose="020B0604020202020204" pitchFamily="34" charset="0"/>
              </a:rPr>
              <a:t>σ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Arial" panose="020B0604020202020204" pitchFamily="34" charset="0"/>
              </a:rPr>
              <a:t>on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l-GR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Arial" panose="020B0604020202020204" pitchFamily="34" charset="0"/>
              </a:rPr>
              <a:t>σ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Arial" panose="020B0604020202020204" pitchFamily="34" charset="0"/>
              </a:rPr>
              <a:t>off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，信号幅度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乘以噪声的标准偏差，且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K=10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，求误码率。</a:t>
            </a:r>
            <a:endParaRPr lang="zh-CN" altLang="en-US" sz="2000" dirty="0">
              <a:solidFill>
                <a:srgbClr val="000000"/>
              </a:solidFill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55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Theme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宋体</vt:lpstr>
      <vt:lpstr>Arial</vt:lpstr>
      <vt:lpstr>Calibri</vt:lpstr>
      <vt:lpstr>Symbol</vt:lpstr>
      <vt:lpstr>Times New Roman</vt:lpstr>
      <vt:lpstr>1_Office Theme</vt:lpstr>
      <vt:lpstr>Equation</vt:lpstr>
      <vt:lpstr>第六章作业</vt:lpstr>
      <vt:lpstr>第七章作业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第六章作业</dc:title>
  <dc:creator>超</dc:creator>
  <cp:lastModifiedBy>SCUT</cp:lastModifiedBy>
  <cp:revision>5</cp:revision>
  <dcterms:created xsi:type="dcterms:W3CDTF">2021-05-26T01:59:44Z</dcterms:created>
  <dcterms:modified xsi:type="dcterms:W3CDTF">2024-05-21T00:18:23Z</dcterms:modified>
</cp:coreProperties>
</file>